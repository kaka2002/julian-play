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313a8492d748b5" /><Relationship Type="http://schemas.openxmlformats.org/officeDocument/2006/relationships/extended-properties" Target="/docProps/app.xml" Id="R66371935ef9447d2" /><Relationship Type="http://schemas.openxmlformats.org/officeDocument/2006/relationships/officeDocument" Target="/ppt/presentation.xml" Id="Rc4b1f044f9004a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86561241db4ca8"/>
  </p:sldMasterIdLst>
  <p:notesMasterIdLst>
    <p:notesMasterId xmlns:r="http://schemas.openxmlformats.org/officeDocument/2006/relationships" r:id="R42e488c7bb084e22"/>
  </p:notesMasterIdLst>
  <p:sldIdLst>
    <p:sldId xmlns:r="http://schemas.openxmlformats.org/officeDocument/2006/relationships" id="256" r:id="R015619fa8158422b"/>
    <p:sldId xmlns:r="http://schemas.openxmlformats.org/officeDocument/2006/relationships" id="257" r:id="Reb968bc2fa904f27"/>
    <p:sldId xmlns:r="http://schemas.openxmlformats.org/officeDocument/2006/relationships" id="258" r:id="Re287c709d6634a4e"/>
    <p:sldId xmlns:r="http://schemas.openxmlformats.org/officeDocument/2006/relationships" id="259" r:id="Rbbf75ce7ff2e4fb5"/>
    <p:sldId xmlns:r="http://schemas.openxmlformats.org/officeDocument/2006/relationships" id="260" r:id="R225f00af1aec42a8"/>
    <p:sldId xmlns:r="http://schemas.openxmlformats.org/officeDocument/2006/relationships" id="261" r:id="R8601dcf94f574bfb"/>
    <p:sldId xmlns:r="http://schemas.openxmlformats.org/officeDocument/2006/relationships" id="262" r:id="R2fa0812821a2404e"/>
    <p:sldId xmlns:r="http://schemas.openxmlformats.org/officeDocument/2006/relationships" id="263" r:id="R0ee6a161d1244f5e"/>
    <p:sldId xmlns:r="http://schemas.openxmlformats.org/officeDocument/2006/relationships" id="264" r:id="R712997f7bb5f4351"/>
    <p:sldId xmlns:r="http://schemas.openxmlformats.org/officeDocument/2006/relationships" id="265" r:id="Rc67724b2c5124844"/>
    <p:sldId xmlns:r="http://schemas.openxmlformats.org/officeDocument/2006/relationships" id="266" r:id="R8f4fb570059e4e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0f4e13b81e46ef" /><Relationship Type="http://schemas.openxmlformats.org/officeDocument/2006/relationships/slideMaster" Target="/ppt/slideMasters/slideMaster1.xml" Id="R0d86561241db4ca8" /><Relationship Type="http://schemas.openxmlformats.org/officeDocument/2006/relationships/notesMaster" Target="/ppt/notesMasters/notesMaster1.xml" Id="R42e488c7bb084e22" /><Relationship Type="http://schemas.openxmlformats.org/officeDocument/2006/relationships/presProps" Target="/ppt/presProps.xml" Id="R21ece61988c64f5f" /><Relationship Type="http://schemas.openxmlformats.org/officeDocument/2006/relationships/tableStyles" Target="/ppt/tableStyles.xml" Id="R2614352a74e84a75" /><Relationship Type="http://schemas.openxmlformats.org/officeDocument/2006/relationships/slide" Target="/ppt/slides/slide1.xml" Id="R015619fa8158422b" /><Relationship Type="http://schemas.openxmlformats.org/officeDocument/2006/relationships/slide" Target="/ppt/slides/slide2.xml" Id="Reb968bc2fa904f27" /><Relationship Type="http://schemas.openxmlformats.org/officeDocument/2006/relationships/slide" Target="/ppt/slides/slide3.xml" Id="Re287c709d6634a4e" /><Relationship Type="http://schemas.openxmlformats.org/officeDocument/2006/relationships/slide" Target="/ppt/slides/slide4.xml" Id="Rbbf75ce7ff2e4fb5" /><Relationship Type="http://schemas.openxmlformats.org/officeDocument/2006/relationships/slide" Target="/ppt/slides/slide5.xml" Id="R225f00af1aec42a8" /><Relationship Type="http://schemas.openxmlformats.org/officeDocument/2006/relationships/slide" Target="/ppt/slides/slide6.xml" Id="R8601dcf94f574bfb" /><Relationship Type="http://schemas.openxmlformats.org/officeDocument/2006/relationships/slide" Target="/ppt/slides/slide7.xml" Id="R2fa0812821a2404e" /><Relationship Type="http://schemas.openxmlformats.org/officeDocument/2006/relationships/slide" Target="/ppt/slides/slide8.xml" Id="R0ee6a161d1244f5e" /><Relationship Type="http://schemas.openxmlformats.org/officeDocument/2006/relationships/slide" Target="/ppt/slides/slide9.xml" Id="R712997f7bb5f4351" /><Relationship Type="http://schemas.openxmlformats.org/officeDocument/2006/relationships/slide" Target="/ppt/slides/slide10.xml" Id="Rc67724b2c5124844" /><Relationship Type="http://schemas.openxmlformats.org/officeDocument/2006/relationships/slide" Target="/ppt/slides/slide11.xml" Id="R8f4fb570059e4e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a6fca929aa48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e6106868e244e3" /><Relationship Type="http://schemas.openxmlformats.org/officeDocument/2006/relationships/notesMaster" Target="/ppt/notesMasters/notesMaster1.xml" Id="R290be58a792049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ea9e4bd0db4d3f" /><Relationship Type="http://schemas.openxmlformats.org/officeDocument/2006/relationships/notesMaster" Target="/ppt/notesMasters/notesMaster1.xml" Id="R3430772821c743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811785dfdc43c1" /><Relationship Type="http://schemas.openxmlformats.org/officeDocument/2006/relationships/notesMaster" Target="/ppt/notesMasters/notesMaster1.xml" Id="R82235ec57dcb45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ee8634fee24180" /><Relationship Type="http://schemas.openxmlformats.org/officeDocument/2006/relationships/notesMaster" Target="/ppt/notesMasters/notesMaster1.xml" Id="R5b957dec1d9745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da5c84d01c4341" /><Relationship Type="http://schemas.openxmlformats.org/officeDocument/2006/relationships/notesMaster" Target="/ppt/notesMasters/notesMaster1.xml" Id="Rc124e7b5572146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1dbadeb4314986" /><Relationship Type="http://schemas.openxmlformats.org/officeDocument/2006/relationships/notesMaster" Target="/ppt/notesMasters/notesMaster1.xml" Id="R620b9637bf984d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0417ed8a8a4029" /><Relationship Type="http://schemas.openxmlformats.org/officeDocument/2006/relationships/notesMaster" Target="/ppt/notesMasters/notesMaster1.xml" Id="Rffa00a53cf7b47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343393397a4404" /><Relationship Type="http://schemas.openxmlformats.org/officeDocument/2006/relationships/notesMaster" Target="/ppt/notesMasters/notesMaster1.xml" Id="R26c2c8782af749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c6ec17eead4f59" /><Relationship Type="http://schemas.openxmlformats.org/officeDocument/2006/relationships/notesMaster" Target="/ppt/notesMasters/notesMaster1.xml" Id="R1cea5dfcdbce45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a1a86bd13e4750" /><Relationship Type="http://schemas.openxmlformats.org/officeDocument/2006/relationships/notesMaster" Target="/ppt/notesMasters/notesMaster1.xml" Id="Rcf8e85ae347646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a85dec45ee43df" /><Relationship Type="http://schemas.openxmlformats.org/officeDocument/2006/relationships/notesMaster" Target="/ppt/notesMasters/notesMaster1.xml" Id="R994114ddfd3d4c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Abertura: apresente o Julian Play como uma solução completa para quem vende IPTV e P2P. Reforce que o objetivo é reduzir trabalho manual e organizar a operação.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a dor do cliente: trabalho manual, perda de controle e falta de rastreabilidade. Em seguida, posicione o sistema como centralizador.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que o painel tira o dono da operação do modo 'procurar problema' e coloca no modo 'agir no que importa'.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Mostre que o cadastro é o coração do sistema: ele evita voltar em vários lugares para saber quem é o cliente e o que foi combinado.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que o robô não substitui o dono do negócio; ele filtra o repetitivo e dá escala com registro.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Reforce que o financeiro evita problemas comuns: valor errado, renovação duplicada, cobrança sem registro e falta de histórico.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Conte que campanha grande exige cuidado. O sistema já prepara envio em lote e teste individual, mas campanhas oficiais via API podem ser o próximo nível.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que isso aumenta a oferta comercial: você pode vender o serviço hospedado ou liberar instalação local controlada.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 o foco é mostrar controle do fornecedor: o cliente local não fica solto; a licença continua sob administração.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manutenção como diferencial profissional: menos suporte manual, mais autonomia para diagnosticar e recuperar.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Fechamento: convide para demonstração. Se for vídeo, terminar com chamada direta para contato.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379c19f1a849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5affffffbc4b6b" /><Relationship Type="http://schemas.openxmlformats.org/officeDocument/2006/relationships/slideLayout" Target="/ppt/slideLayouts/slideLayout1.xml" Id="R5944f56ea7a64e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44f56ea7a64e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1ebf0cc4e4eb8" /><Relationship Type="http://schemas.openxmlformats.org/officeDocument/2006/relationships/image" Target="/ppt/media/image.png" Id="Rf8b3f205dd8041b3" /><Relationship Type="http://schemas.openxmlformats.org/officeDocument/2006/relationships/image" Target="/ppt/media/image2.png" Id="Rd8df2ee961754a88" /><Relationship Type="http://schemas.openxmlformats.org/officeDocument/2006/relationships/notesSlide" Target="/ppt/notesSlides/notesSlide1.xml" Id="Rb3c0df418d2342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66c418d2f498e" /><Relationship Type="http://schemas.openxmlformats.org/officeDocument/2006/relationships/image" Target="/ppt/media/image3.png" Id="Rf2a200708d66434d" /><Relationship Type="http://schemas.openxmlformats.org/officeDocument/2006/relationships/notesSlide" Target="/ppt/notesSlides/notesSlide2.xml" Id="R7309aa01a38943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73683ecc34992" /><Relationship Type="http://schemas.openxmlformats.org/officeDocument/2006/relationships/image" Target="/ppt/media/image4.png" Id="Rc3f55bebc9874861" /><Relationship Type="http://schemas.openxmlformats.org/officeDocument/2006/relationships/notesSlide" Target="/ppt/notesSlides/notesSlide3.xml" Id="Racb7c9df4bef43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de03908c7d4815" /><Relationship Type="http://schemas.openxmlformats.org/officeDocument/2006/relationships/image" Target="/ppt/media/image5.png" Id="R4919502eb30f48e6" /><Relationship Type="http://schemas.openxmlformats.org/officeDocument/2006/relationships/notesSlide" Target="/ppt/notesSlides/notesSlide4.xml" Id="R5bbc4440b1994c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2c239d02f4a96" /><Relationship Type="http://schemas.openxmlformats.org/officeDocument/2006/relationships/image" Target="/ppt/media/image6.png" Id="R5b2f1ab183924e58" /><Relationship Type="http://schemas.openxmlformats.org/officeDocument/2006/relationships/notesSlide" Target="/ppt/notesSlides/notesSlide5.xml" Id="Rb3423f84af4f43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4d821c4fb4c2c" /><Relationship Type="http://schemas.openxmlformats.org/officeDocument/2006/relationships/image" Target="/ppt/media/image7.png" Id="Rcc0333f7b39940af" /><Relationship Type="http://schemas.openxmlformats.org/officeDocument/2006/relationships/notesSlide" Target="/ppt/notesSlides/notesSlide6.xml" Id="R98ed67b3c7d149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3f8c2ad83420f" /><Relationship Type="http://schemas.openxmlformats.org/officeDocument/2006/relationships/image" Target="/ppt/media/image8.png" Id="Rcd582fc33aca4446" /><Relationship Type="http://schemas.openxmlformats.org/officeDocument/2006/relationships/image" Target="/ppt/media/image9.png" Id="R2ece4e4529a44b52" /><Relationship Type="http://schemas.openxmlformats.org/officeDocument/2006/relationships/notesSlide" Target="/ppt/notesSlides/notesSlide7.xml" Id="Recc1c639ee6f4e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b0765ff654788" /><Relationship Type="http://schemas.openxmlformats.org/officeDocument/2006/relationships/image" Target="/ppt/media/image10.png" Id="R1b627248ac774958" /><Relationship Type="http://schemas.openxmlformats.org/officeDocument/2006/relationships/notesSlide" Target="/ppt/notesSlides/notesSlide8.xml" Id="R4e256aff120549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97ceb51cd4c4a" /><Relationship Type="http://schemas.openxmlformats.org/officeDocument/2006/relationships/image" Target="/ppt/media/image11.png" Id="Rd44e2f3c3fca4298" /><Relationship Type="http://schemas.openxmlformats.org/officeDocument/2006/relationships/notesSlide" Target="/ppt/notesSlides/notesSlide9.xml" Id="R6fcd8fd6428f40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407fa6e6b4248" /><Relationship Type="http://schemas.openxmlformats.org/officeDocument/2006/relationships/image" Target="/ppt/media/image12.png" Id="Rc3cd10f5be5c4144" /><Relationship Type="http://schemas.openxmlformats.org/officeDocument/2006/relationships/notesSlide" Target="/ppt/notesSlides/notesSlide10.xml" Id="R422c172c42d24a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ec24f4add4611" /><Relationship Type="http://schemas.openxmlformats.org/officeDocument/2006/relationships/image" Target="/ppt/media/image13.png" Id="R15ac0aeb88d44504" /><Relationship Type="http://schemas.openxmlformats.org/officeDocument/2006/relationships/notesSlide" Target="/ppt/notesSlides/notesSlide11.xml" Id="R50d85b6c6d014b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3f205dd8041b3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3D5541-DED1-4334-B224-42D95053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71B4D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f2ee961754a88"/>
          <a:stretch xmlns:a="http://schemas.openxmlformats.org/drawingml/2006/main"/>
        </p:blipFill>
        <p:spPr>
          <a:xfrm xmlns:a="http://schemas.openxmlformats.org/drawingml/2006/main">
            <a:off x="781050" y="66675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3EBF9-BAF7-49EA-A969-FE38B15C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31432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C9D4"/>
          </a:solidFill>
          <a:ln xmlns:a="http://schemas.openxmlformats.org/drawingml/2006/main" w="9525">
            <a:solidFill>
              <a:srgbClr val="17C9D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E7F3E-F9E5-409E-B039-0F368138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90700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SISTEMA COMERCIAL PARA IPTV E P2P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97A1D-3579-4BBF-959B-2047AEA4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39D0B-6E6A-4990-B010-0A2D4097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609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Controle de clientes, robô WhatsApp, financeiro, campanhas e licenças em uma única operação.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8E7B50-D288-4E09-87A4-44957EC2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429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85979D-D563-4A10-84A2-38502150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530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Do cadastro à renovação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BD4BB4-3E5B-4E73-8E5E-2ECF8F4B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340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A5445-0BEB-4834-B74E-143A776E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054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Menos retrabalho e mais controle para vender, atender e cobrar.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381CE-6819-4199-8E70-526EA795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62500"/>
            <a:ext cx="3619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FC8FA-C061-42FC-A9AE-323C583C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953000"/>
            <a:ext cx="316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Servidor ou instalação local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AE7837-8A6E-4AA4-A407-BA6E659F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3340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2F893-DAA6-44B5-BDA0-B2F43855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505450"/>
            <a:ext cx="316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Você controla a licença e o cliente usa o painel onde preferir.</a:t>
            </a:r>
          </a:p>
        </p:txBody>
      </p:sp>
    </p:spTree>
    <p:extLst>
      <p:ext uri="{BB962C8B-B14F-4D97-AF65-F5344CB8AC3E}">
        <p14:creationId xmlns:p14="http://schemas.microsoft.com/office/powerpoint/2010/main" val="4463663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F8F405-C465-4466-AF43-41C64DB8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68871-FD4D-48D0-871D-0EA7F1D8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200708d66434d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AF2E4-DC95-4008-9546-3A3AE7C0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B56A3-FBFA-4A31-AE4A-DECB43BD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O problema que o sistema resolve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881B51-56DB-427C-BF00-DCD4FFAD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7085"/>
                </a:solidFill>
              </a:defRPr>
            </a:pPr>
            <a:r>
              <a:rPr sz="1650" b="0">
                <a:solidFill>
                  <a:srgbClr val="667085"/>
                </a:solidFill>
              </a:rPr>
              <a:t>Antes do Julian Play, a operação costuma ficar espalhada entre planilhas, WhatsApp, painéis de apps, anotações e cobranças manuais.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6D974-E515-4867-A8DD-53127778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57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B4BBE-49FC-458A-A55F-6E2D0DEA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Cliente vence e ninguém vê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0BB89-A8D6-41A6-B4EA-C9A68845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DF3FB-D61D-40F9-94CF-C4D42546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2800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Avisos dependem da memória e podem atrasar a renovação.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4F453-0C57-404D-A600-38570273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24150"/>
            <a:ext cx="3257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1E4CB-1A6B-4773-9764-B36A9036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1465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Histórico fica perdido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F73F83-FDFA-4120-8706-DEF85D61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956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86430E-9211-4543-BF28-D1DE3FE4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67100"/>
            <a:ext cx="2800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Conversas, pagamentos e alterações ficam fora do cadastro.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C4879-FAF9-4C62-9F3F-B9E28C5A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32575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017DB-8E22-4820-99BC-E496A359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Entrega sem padrão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381FE-E874-4E08-8635-FC8A7D84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956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EC3FA9-14F9-48FF-9ECA-C6F3E5B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67100"/>
            <a:ext cx="2800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Cada instalação pode sair de um jeito, dificultando suporte.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7CB7C7-3973-4B6C-86DD-54C8D779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648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A5F3F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7EE51-DC53-4AEC-8AE2-7C38E39D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292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1B4D"/>
                </a:solidFill>
              </a:defRPr>
            </a:pPr>
            <a:r>
              <a:rPr sz="1800" b="1">
                <a:solidFill>
                  <a:srgbClr val="071B4D"/>
                </a:solidFill>
              </a:rPr>
              <a:t>A proposta é simples: transformar a rotina comercial em um fluxo padronizado, visível e fácil de acompanhar.</a:t>
            </a:r>
          </a:p>
        </p:txBody>
      </p:sp>
    </p:spTree>
    <p:extLst>
      <p:ext uri="{BB962C8B-B14F-4D97-AF65-F5344CB8AC3E}">
        <p14:creationId xmlns:p14="http://schemas.microsoft.com/office/powerpoint/2010/main" val="6820879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DD1A4C-2AF0-4E76-A4AD-EC4A5DF3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2695FA-B23F-4884-9B45-F2041CE7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55bebc9874861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C7026-ED71-4699-A011-DEC550C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76918-50DC-4583-BBCA-4E97D71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Painel de controle para decidir rápido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64FB4-3DC4-4B30-84E9-4EFFE981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28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A tela inicial mostra o que exige atenção: clientes ativos, vencimentos próximos, receita recorrente, campanhas e status do atendimento.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FA56F-57D8-45D9-B3A5-5EF42B8E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8A05F-A498-4285-AE9F-93CBEB92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28F53-A53E-4FF3-91F3-FAF08E4A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Clientes ativos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A2E49-C65C-4188-BB46-FE66805F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1979C-7531-462D-BA97-C52027AE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base atual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51550-B630-440F-ACF0-DE6CA0B2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88F30-85A7-40F8-96B5-78241C57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7AAA4F-CEC4-4F89-8B39-90A35950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Vencem em 7 dias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9E1132-5B3C-40DA-8A4B-1E767208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450F33-D097-42B3-8A65-85311A61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precisam atenção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7B4EB2-7937-4F7E-B7F6-BEEB996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539DE-B94E-42FD-8A43-D0867B35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2FAD28-744C-4710-AB52-2F7402FB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Receita mensal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A6BB80-3B12-4F32-B20A-3F97850D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R$ 283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B6AC64-7217-46F2-BE77-49E17806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recorrente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AA8FA0-334F-4862-BA6C-DF63E298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D5A66F-CD56-40A2-BD37-3DB973B7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C05BA6-1D8A-4929-AB55-708113D3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Atendimentos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477EAE-14A1-44FA-BDC4-C35EC022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B1A774-F839-4775-9286-AE4F8930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urgentes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3E43DF-2CA1-46E1-BA45-AAE96592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648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F207B4-82D5-4B68-AF4E-B24B1B66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Resultado comercial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440401-2533-43BC-89CD-5584EFF0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48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Você sabe quem precisa renovar, quem está ativo, quanto está entrando e qual ação deve ser feita primeiro.</a:t>
            </a:r>
          </a:p>
        </p:txBody>
      </p:sp>
    </p:spTree>
    <p:extLst>
      <p:ext uri="{BB962C8B-B14F-4D97-AF65-F5344CB8AC3E}">
        <p14:creationId xmlns:p14="http://schemas.microsoft.com/office/powerpoint/2010/main" val="13350781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BD2DA4-92A3-4F02-9EF2-57BB8A64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6416BC-989E-49A6-8C48-6B42FA43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9502eb30f48e6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E02EB-031A-4B2B-99EB-52057EC3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802C8-CF22-423D-BE51-E72C0C54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Cadastro completo do cliente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06FF2-F4A7-45D2-A99A-384C69E2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Cada cliente concentra dados pessoais, plano, vencimento, apps, dispositivos, painel, acesso IPTV, tags e histórico.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82F6C-F1D6-4985-B63C-CDF86883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3048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83AD9D-26A0-490B-8321-E83FCD5B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Plano e vencimento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EC0DF-9A9B-4220-B085-8602F4EE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A5E86-7D11-4B8B-BEF3-E966C08B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Controle dias, valor, status, início e renovação.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E2BA35-7B4D-4D75-A7D5-EB22A921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647950"/>
            <a:ext cx="3048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9B8C18-A3E1-4AFF-BFF3-AD7F7112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384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Apps e dispositivos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C87B89-53D9-47A7-A6D3-9DF522C1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19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0BFBD3-08BA-418F-A8AA-424FCEF7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Registre onde o cliente usa e quais apps estão instalados.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DF771A-A52B-434A-A046-39AB8D86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3048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3E516B-24F1-4375-951F-CE124998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384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Tags e origem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55F284-5115-4351-AEBA-4D0765A9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19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11C9E-8D94-4B99-A1F9-6D8FF4A4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9090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Separe VIP, bom pagador, indicação, teste e outros grupos.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12671B-66F8-4109-8F41-6FEA20DA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6E8875-C253-447D-B8E4-65964225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WhatsApp internacional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E3C565-23B9-4557-BAEB-22807BEA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F9E943-D2E5-4690-A7F9-73E68F80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DDI por país para atender Brasil, EUA, Canadá e outros.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43314E-D7C4-485C-A127-49EA8A8D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343400"/>
            <a:ext cx="3048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CA850-277E-4DDC-997D-D0CF402A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53390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Ações rápidas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220B4F-C272-43E2-8EA3-B0C32844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9149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3E695-19C1-4C84-875A-CAA22A2A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08635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Enviar PIX, cobrança, abrir WhatsApp, renovar e ver histórico.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A59714-97C0-422A-B862-3D995AFE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43400"/>
            <a:ext cx="3048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230033-336C-4D44-8E27-DD4C46DE8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3390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Histórico único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5E0C8F-D533-4706-8298-6FBCF616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149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F0CCF4-3062-4F3D-9298-B67E7586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086350"/>
            <a:ext cx="259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Financeiro, robô, atendimentos e notas em uma linha do tempo.</a:t>
            </a:r>
          </a:p>
        </p:txBody>
      </p:sp>
    </p:spTree>
    <p:extLst>
      <p:ext uri="{BB962C8B-B14F-4D97-AF65-F5344CB8AC3E}">
        <p14:creationId xmlns:p14="http://schemas.microsoft.com/office/powerpoint/2010/main" val="14900002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FD7D25-9B34-4B22-A947-AF8027CA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9FBC4-FAFF-46AB-B412-B35CA960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f1ab183924e58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DCDBAC-6A35-4963-8724-AE83EC90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29F47-5E01-4401-A25B-98FACD5F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Robô WhatsApp para atendimento e cobrança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8BA21-1098-43B7-9CA0-A0FB0896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O robô responde clientes, envia vencimentos, PIX, orientações de instalação, campanhas e mensagens configuradas no painel.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12FCC-976A-4960-B6E0-84D7A038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0CA300-95BC-4E54-8AB3-AEF3312E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FB64-B321-4ED8-8AD8-A1C46C3B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05150"/>
            <a:ext cx="123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F3"/>
          </a:solidFill>
          <a:ln xmlns:a="http://schemas.openxmlformats.org/drawingml/2006/main" w="0">
            <a:solidFill>
              <a:srgbClr val="DFE7F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4F8AF-E060-4663-90D8-5177D86D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Cliente chama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58C0E-0E2F-439F-B76B-9C51C8EF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62400"/>
            <a:ext cx="160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O robô identifica a intenção: PIX, renovação, teste ou suporte.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A39DD-AAEE-4443-BEB2-AB8A3D13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B7EEF-DE50-497D-B905-CBFEE8EB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4A6269-4E38-441C-90E9-AD4CEB6F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05150"/>
            <a:ext cx="123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F3"/>
          </a:solidFill>
          <a:ln xmlns:a="http://schemas.openxmlformats.org/drawingml/2006/main" w="0">
            <a:solidFill>
              <a:srgbClr val="DFE7F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2D115-6083-4B57-B6B0-FCE9815D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Sistema consulta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118AA5-3750-4381-8E47-A592DA86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62400"/>
            <a:ext cx="160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Busca plano, vencimento, cliente e configurações.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53EE8E-3D26-4A90-9E2E-FD233D07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EC25D2-C017-443E-9494-BF11D64E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90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44547-B8B0-48AA-BDCB-BCACC345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05150"/>
            <a:ext cx="123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F3"/>
          </a:solidFill>
          <a:ln xmlns:a="http://schemas.openxmlformats.org/drawingml/2006/main" w="0">
            <a:solidFill>
              <a:srgbClr val="DFE7F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36F305-C0F5-48CE-86A2-9289B245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623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Resposta sai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BF2D18-6B76-4A6A-82E2-618A57DB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62400"/>
            <a:ext cx="160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Mensagem com texto, imagem ou QR Code conforme o fluxo.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FC4C4B-0CF8-4DFD-8C3E-E19B577A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07DE52-D436-4EE6-9015-A02C72EA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943B3A-86E0-48C0-872E-0BAFF346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05150"/>
            <a:ext cx="123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F3"/>
          </a:solidFill>
          <a:ln xmlns:a="http://schemas.openxmlformats.org/drawingml/2006/main" w="0">
            <a:solidFill>
              <a:srgbClr val="DFE7F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9EF9B1-242F-402D-B689-905793CF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5623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Histórico grava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9E80EB-A716-48FD-8FDB-8F51700B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62400"/>
            <a:ext cx="160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Tudo fica registrado no cliente e no painel.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53DA36-FEFA-47DE-AAE2-AA2D4B6E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4774C4-3452-4C6E-B89E-474FA87A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908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68737D-BB2B-477B-8A25-FCD518685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5623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Humano assume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F7FF43-F212-4C36-BC9A-4262BED5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62400"/>
            <a:ext cx="1600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Quando necessário, o robô pausa o atendimento automático.</a:t>
            </a:r>
          </a:p>
        </p:txBody>
      </p:sp>
    </p:spTree>
    <p:extLst>
      <p:ext uri="{BB962C8B-B14F-4D97-AF65-F5344CB8AC3E}">
        <p14:creationId xmlns:p14="http://schemas.microsoft.com/office/powerpoint/2010/main" val="10952590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31806-8144-4246-8490-D7799503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5EF56-5F72-4C98-8C73-96A7E791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333f7b39940af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E0D61-F7E5-4BDD-85C0-1236474D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504F2-97A9-41F0-8522-27C2D15D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Financeiro com PIX, renovação e rastreio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E94BE-09D6-4CCB-A8CB-65BDD071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O financeiro ajuda a cobrar, registrar pagamentos, confirmar renovação e visualizar valores por plano e forma de pagamento.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B77B4-E112-4BB7-AFEF-BEA48DBE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953000" cy="2428875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49A019-E7CB-47C4-8A80-E58CD78B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765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Fluxo de renovação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152D74-84BC-463E-9E92-454C2511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7185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1. Escolha o plano</a:t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2. O sistema preenche dias e valor</a:t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3. Registre a forma de pagamento</a:t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4. Envie confirmação pelo WhatsApp</a:t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5. O histórico financeiro fica salvo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F44D1-B724-43F8-BD69-DA9EB739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4572000" cy="2428875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BBF7D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8A5374-DA81-4515-9103-86507674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765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B981"/>
                </a:solidFill>
              </a:defRPr>
            </a:pPr>
            <a:r>
              <a:rPr sz="1875" b="1">
                <a:solidFill>
                  <a:srgbClr val="10B981"/>
                </a:solidFill>
              </a:rPr>
              <a:t>Benefício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0A580-ED5E-4B8F-8ECF-8BD8388B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29000"/>
            <a:ext cx="3524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Menos erro de valor, menos duplicidade de envio e mais confiança na cobrança.</a:t>
            </a:r>
          </a:p>
        </p:txBody>
      </p:sp>
    </p:spTree>
    <p:extLst>
      <p:ext uri="{BB962C8B-B14F-4D97-AF65-F5344CB8AC3E}">
        <p14:creationId xmlns:p14="http://schemas.microsoft.com/office/powerpoint/2010/main" val="10782028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42EE4C-2451-4C17-B27D-06BFA5CD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C8E6CC-B211-46D9-B182-90054C25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82fc33aca4446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A0200-DDB7-4F77-9F03-7D7CA4BA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1B2F4-6AAB-4DF5-B03E-53DAB349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Campanhas e CRM para vender mais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E5FD1-FB5E-4186-B371-38C7391A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O sistema permite campanhas com imagem, envio de teste individual, disparo em lote controlado e CRM para acompanhar interessados.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ce4e4529a44b52"/>
          <a:stretch xmlns:a="http://schemas.openxmlformats.org/drawingml/2006/main"/>
        </p:blipFill>
        <p:spPr>
          <a:xfrm xmlns:a="http://schemas.openxmlformats.org/drawingml/2006/main">
            <a:off x="685800" y="2476500"/>
            <a:ext cx="3429000" cy="3429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D58C1-5669-4621-A17E-9D2DCA7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F29AE-836B-49DD-890C-00201B7C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6670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Disparo protegido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89FC61-EAD0-4995-A3FD-0C7DFA76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7829E2-71CF-43FD-8897-4582DEDD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194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Envio em lotes para reduzir risco de travar o WhatsApp.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C2921-61CB-4EED-9A43-3C1FEE99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31F8D9-0897-4EEC-8853-76B3316F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Modelo editável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6CB65-C5C5-486B-80C0-EBE919CB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480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BA9366-CE42-47C4-97BF-251B9E8A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Texto configurado em modelos e imagem definida em manutenção.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049B7-275B-4FD7-94EF-ADBD3C3C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7195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6195C-742D-418A-ABC0-3B101D63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3624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CRM de vendas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A7F54-F252-405D-BFC6-07FFF5C0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743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F02784-F39A-48E9-925A-AFC138FD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149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Registre leads, retorno, status e motivo de perda.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93E65B-C16E-450A-9185-87EC2F04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7195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D1570-1E2E-45C1-893E-444884EE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Teste antes de enviar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4A5AD6-9689-4778-87DA-6A07B11A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43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63EDF0-92F3-44A6-A88A-E8912991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149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Envie para um cliente e valide a campanha antes do lote.</a:t>
            </a:r>
          </a:p>
        </p:txBody>
      </p:sp>
    </p:spTree>
    <p:extLst>
      <p:ext uri="{BB962C8B-B14F-4D97-AF65-F5344CB8AC3E}">
        <p14:creationId xmlns:p14="http://schemas.microsoft.com/office/powerpoint/2010/main" val="20929231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30571D-3B52-461F-BF17-B214CA9A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4E690-59BD-40D1-B748-1853BF7D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27248ac774958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76CCD-3EF1-4C6F-AF60-CC7DAA77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FACE7-C3AB-42FE-AE7A-B1C64CD2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Instalação local ou hospedada no servidor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C271AB-7BFE-4A59-A6A9-19D2EB0A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Você pode manter clientes no seu servidor ou entregar uma instalação local licenciada no computador do cliente.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368B2-63DF-4126-A0B8-87DCCF1A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64AA73-B5BA-4E70-8FE8-4917EDEB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E5BFF"/>
                </a:solidFill>
              </a:defRPr>
            </a:pPr>
            <a:r>
              <a:rPr sz="2250" b="1">
                <a:solidFill>
                  <a:srgbClr val="1E5BFF"/>
                </a:solidFill>
              </a:rPr>
              <a:t>Servidor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D886D4-669E-4A96-932E-83680C2F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Ideal para centralizar várias instalações, acompanhar clientes e operar com domínio próprio.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5993F-834C-4CBF-9ECE-3D0C192B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403C0-6673-47AA-9109-E64964ED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28A19"/>
                </a:solidFill>
              </a:defRPr>
            </a:pPr>
            <a:r>
              <a:rPr sz="2250" b="1">
                <a:solidFill>
                  <a:srgbClr val="F28A19"/>
                </a:solidFill>
              </a:rPr>
              <a:t>Local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1FF67E-92D0-4327-9F7A-9975D4F6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43300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Ideal para cliente usar no próprio computador, com licença controlada por você.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18075-F0A2-44F4-9687-42E39D90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562600"/>
            <a:ext cx="47625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B4D"/>
          </a:solidFill>
          <a:ln xmlns:a="http://schemas.openxmlformats.org/drawingml/2006/main" w="9525">
            <a:solidFill>
              <a:srgbClr val="071B4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0CA4CC-D4A2-4C34-9508-03904A92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638800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Licença por ID de instalação e chave da máquina</a:t>
            </a:r>
          </a:p>
        </p:txBody>
      </p:sp>
    </p:spTree>
    <p:extLst>
      <p:ext uri="{BB962C8B-B14F-4D97-AF65-F5344CB8AC3E}">
        <p14:creationId xmlns:p14="http://schemas.microsoft.com/office/powerpoint/2010/main" val="1393048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5BBF9A-DC8C-4F48-8CA7-AEBF1E6A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0944D0-183F-40D5-9438-B0553400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4e2f3c3fca4298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4A48-AFF3-49CB-94C8-9B4401B8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88A795-8DDD-4A76-9BD7-8643926B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Painel Mestre para controlar instalações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E03C38-F02E-41E0-99D9-4FC917C3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O Painel Mestre acompanha instalações comerciais, licenças locais, validade, status, saúde do robô e necessidades de atenção.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23C32-11A0-47C3-AF49-A67196C6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AEC08E-A352-48CA-937F-51E6F91F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D74F6-61D5-4FE7-8C68-8D9AC779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Licenças locais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C0B99-6E39-4CF2-88E8-9589DB54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Ativas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FDA223-2DA5-4507-AFA5-909521C9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controle por máquina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A3FD7-95F0-4503-903F-5221D638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70AE1-E4D9-4CDC-B331-DB426D0A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58BB8-0134-45A0-833D-E8BEF529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Instalações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9CA0C0-40A4-4113-8485-B21E193B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Servidor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0A1CA-1CD8-412E-86C6-59ABCE03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clientes isolados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450257-FFB6-45B1-B57F-1525FD84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C94392-6CBE-434F-9904-8ACD2502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DB6C3E-4C05-4BDB-B69C-05C871FE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Renovações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667CB2-2225-4EFD-95DB-AFCF6B7E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Código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C6E12C-CCFE-4F7B-B60F-1DC5317F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envio ao cliente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7E0FAE-3E13-45C4-83C7-3D542EE1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47950"/>
            <a:ext cx="2238375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EFABEB-A758-41A3-9072-A47AD171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47950"/>
            <a:ext cx="4762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6E79B2-F3D1-45B3-A3DD-97906448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Atenção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2C4389-9A0B-4CA9-A71E-F36C1C71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05150"/>
            <a:ext cx="152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</a:defRPr>
            </a:pPr>
            <a:r>
              <a:rPr sz="2400" b="1">
                <a:solidFill>
                  <a:srgbClr val="0F172A"/>
                </a:solidFill>
              </a:rPr>
              <a:t>Prioridades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74C746-B2D3-4264-BAD4-B32323F5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147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</a:defRPr>
            </a:pPr>
            <a:r>
              <a:rPr sz="975" b="1">
                <a:solidFill>
                  <a:srgbClr val="667085"/>
                </a:solidFill>
              </a:rPr>
              <a:t>o que revisar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0B2E7B-E168-422E-A354-67D34044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6489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0C9A3B-379C-49C7-92C6-41B18BD2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914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Você decide quando liberar, renovar, suspender, transferir ou acompanhar uma instalação.</a:t>
            </a:r>
          </a:p>
        </p:txBody>
      </p:sp>
    </p:spTree>
    <p:extLst>
      <p:ext uri="{BB962C8B-B14F-4D97-AF65-F5344CB8AC3E}">
        <p14:creationId xmlns:p14="http://schemas.microsoft.com/office/powerpoint/2010/main" val="10890379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ECF48-3892-4533-AC36-2199CDBD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C7C36-668F-4149-A0B5-27377B4E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cd10f5be5c4144"/>
          <a:stretch xmlns:a="http://schemas.openxmlformats.org/drawingml/2006/main"/>
        </p:blipFill>
        <p:spPr>
          <a:xfrm xmlns:a="http://schemas.openxmlformats.org/drawingml/2006/main">
            <a:off x="514350" y="1714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8D4AD5-9381-4391-8F80-79C89564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39C48-5713-4C7B-B8DD-12C7C85D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Manutenção, backup e diagnóstico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7E86C8-BFC7-4110-A7B0-D18B8B918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</a:defRPr>
            </a:pPr>
            <a:r>
              <a:rPr sz="1575" b="0">
                <a:solidFill>
                  <a:srgbClr val="667085"/>
                </a:solidFill>
              </a:rPr>
              <a:t>O sistema inclui saúde do robô, logs, diagnóstico, backup dos dados, troca de imagens do robô, configuração de mensagens e webhook.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1CEC6-045A-4919-8355-0BE2CE88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D7278-E4BB-4E03-B87A-79594688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Saúde do robô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E1A89-51EB-4306-8E2E-DCE5109D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4616D6-9965-433D-8B79-C7A62FE6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Mostra conexão, risco, fila, última resposta e eventos ignorados.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E55D30-516C-461B-88FC-A0AA918E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4795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B35EFB-9403-4382-8E0B-00F2AD42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384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Backup e restauração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F662CD-5A18-4248-AEB2-9EB1F59F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19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5BFF"/>
          </a:solidFill>
          <a:ln xmlns:a="http://schemas.openxmlformats.org/drawingml/2006/main" w="0">
            <a:solidFill>
              <a:srgbClr val="1E5B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13CC86-58F2-4411-8D18-2483866E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3909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Gere cópias antes de manutenção, atualização ou importação.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BAEEF1-789B-44D3-84AD-416C6132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4795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95E63-C7ED-496F-A39D-0579D5D4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3845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Diagnóstico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21D7B3-4C52-4120-B0C0-EC04FD4E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194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19"/>
          </a:solidFill>
          <a:ln xmlns:a="http://schemas.openxmlformats.org/drawingml/2006/main" w="0">
            <a:solidFill>
              <a:srgbClr val="F28A1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D513F2-0F33-4873-95EB-D6E87F0B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909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Banco, PIX, licença, WhatsApp, webhook e acesso administrativo.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79E6C1-9568-4C6F-8170-1264094F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34340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D799D1-DD67-452E-A194-B43EBE76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5339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Webhook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1C043C-A6DD-4211-9E29-FCB1375A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149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C9D4"/>
          </a:solidFill>
          <a:ln xmlns:a="http://schemas.openxmlformats.org/drawingml/2006/main" w="0">
            <a:solidFill>
              <a:srgbClr val="17C9D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56D0AB-23E7-47DE-A85B-26CE87CD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0863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Integrações futuras com dados do cliente, financeiro e eventos do robô.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7820E7-AD6D-4BE8-9762-47CABFE5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343400"/>
            <a:ext cx="31432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E7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4AA61C-491B-4A90-8801-E39AC04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33900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Suporte mais simples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C1553D-B4D5-4752-A9C2-DDB821FA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44C64-BAA5-41AC-B2F9-290A7435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0863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Botões de recuperação evitam depender de comandos no PowerShell.</a:t>
            </a:r>
          </a:p>
        </p:txBody>
      </p:sp>
    </p:spTree>
    <p:extLst>
      <p:ext uri="{BB962C8B-B14F-4D97-AF65-F5344CB8AC3E}">
        <p14:creationId xmlns:p14="http://schemas.microsoft.com/office/powerpoint/2010/main" val="2563733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B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3EA1D-DBD0-4AC7-86FF-38B58FDD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4D"/>
          </a:solidFill>
          <a:ln xmlns:a="http://schemas.openxmlformats.org/drawingml/2006/main" w="0">
            <a:solidFill>
              <a:srgbClr val="071B4D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c0aeb88d44504"/>
          <a:stretch xmlns:a="http://schemas.openxmlformats.org/drawingml/2006/main"/>
        </p:blipFill>
        <p:spPr>
          <a:xfrm xmlns:a="http://schemas.openxmlformats.org/drawingml/2006/main">
            <a:off x="800100" y="7048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1D2922-324C-403B-9BE3-99A2ABAF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Julian Play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AA3FE-1D5C-4083-B3BA-0CF27BED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666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</a:defRPr>
            </a:pPr>
            <a:r>
              <a:rPr sz="2100" b="0">
                <a:solidFill>
                  <a:srgbClr val="FFFFFF"/>
                </a:solidFill>
              </a:rPr>
              <a:t>Um painel para vender, atender, cobrar e controlar sua operação com padrão profissional.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CB352-AD69-45ED-9267-1877A93F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29527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C9D4"/>
          </a:solidFill>
          <a:ln xmlns:a="http://schemas.openxmlformats.org/drawingml/2006/main" w="9525">
            <a:solidFill>
              <a:srgbClr val="17C9D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5A972A-BC01-431D-89BC-DF5419A1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Demonstração comercial pronta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F71E1-47F4-401C-976D-599E5AAF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95750"/>
            <a:ext cx="29527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8A19"/>
          </a:solidFill>
          <a:ln xmlns:a="http://schemas.openxmlformats.org/drawingml/2006/main" w="9525">
            <a:solidFill>
              <a:srgbClr val="F28A1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E87E7-2D1B-48E6-BC0F-7E10D442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71950"/>
            <a:ext cx="264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Instalação local controlada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89B6D-FBFC-41E0-82F2-1DAFDE23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095750"/>
            <a:ext cx="28575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B981"/>
          </a:solidFill>
          <a:ln xmlns:a="http://schemas.openxmlformats.org/drawingml/2006/main" w="9525">
            <a:solidFill>
              <a:srgbClr val="10B98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10FFB-B47E-4A6E-80D0-BE1DF35C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Robô WhatsApp integrado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1C3302-F4D9-45D0-9830-2863422E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6572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84E3D8-FF6E-4987-B92F-AB46D4FE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626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71B4D"/>
                </a:solidFill>
              </a:defRPr>
            </a:pPr>
            <a:r>
              <a:rPr sz="1650" b="1">
                <a:solidFill>
                  <a:srgbClr val="071B4D"/>
                </a:solidFill>
              </a:rPr>
              <a:t>Próximo passo: marcar uma demonstração e mostrar o fluxo completo ao vivo.</a:t>
            </a:r>
          </a:p>
        </p:txBody>
      </p:sp>
    </p:spTree>
    <p:extLst>
      <p:ext uri="{BB962C8B-B14F-4D97-AF65-F5344CB8AC3E}">
        <p14:creationId xmlns:p14="http://schemas.microsoft.com/office/powerpoint/2010/main" val="9229736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2026-07-17T16:39:49.6030000Z</dcterms:created>
  <dcterms:modified xsi:type="dcterms:W3CDTF">2026-07-17T16:39:49.6030000Z</dcterms:modified>
</coreProperties>
</file>